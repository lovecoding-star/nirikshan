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8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Relationship Id="rId3" Type="http://schemas.openxmlformats.org/officeDocument/2006/relationships/hyperlink" Target="https://nirikshanv2.onrender.com/" TargetMode="External"/><Relationship Id="rId2" Type="http://schemas.openxmlformats.org/officeDocument/2006/relationships/hyperlink" Target="https://github.com/Yosa-Shiawase/Nirikshanv2" TargetMode="Externa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SIH26184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Predictive Analytics Framework for Cybercrime Complaints to Forecast Likely Cash Withdrawal Locations (MHA)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Theme- Software, Blockchain &amp; Cybersecurity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ID- [YOUR TEAM ID]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TEAM CYPHORA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s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04" y="111908"/>
            <a:ext cx="826025" cy="1366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NIRAKSHAN — SEE. PREDICT. INTERCEPT.</a:t>
            </a:r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75082" y="1207008"/>
            <a:ext cx="12116918" cy="212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000"/>
              <a:t>   </a:t>
            </a:r>
            <a:r>
              <a:rPr sz="1000"/>
              <a:t>TEAM CYPHORA</a:t>
            </a:r>
            <a:endParaRPr sz="10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411480" y="2395728"/>
            <a:ext cx="3611880" cy="2212848"/>
          </a:xfrm>
          <a:prstGeom prst="roundRect">
            <a:avLst>
              <a:gd name="adj" fmla="val 10000"/>
            </a:avLst>
          </a:prstGeom>
          <a:solidFill>
            <a:srgbClr val="0C182C"/>
          </a:solidFill>
          <a:ln w="16510">
            <a:solidFill>
              <a:srgbClr val="14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E8AB5"/>
                </a:solidFill>
                <a:latin typeface="Consolas" panose="020B0609020204030204"/>
              </a:rPr>
              <a:t>◎  PREDICT</a:t>
            </a:r>
            <a:endParaRPr sz="1700" b="1">
              <a:solidFill>
                <a:srgbClr val="1E8AB5"/>
              </a:solidFill>
              <a:latin typeface="Consolas" panose="020B0609020204030204"/>
            </a:endParaRP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1F5F9"/>
                </a:solidFill>
              </a:rPr>
              <a:t>Hawkes engine forecasts cash-out hotspots before they happen</a:t>
            </a:r>
            <a:endParaRPr sz="1250" b="0">
              <a:solidFill>
                <a:srgbClr val="F1F5F9"/>
              </a:solidFill>
            </a:endParaRP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515F70"/>
                </a:solidFill>
                <a:latin typeface="Consolas" panose="020B0609020204030204"/>
              </a:rPr>
              <a:t>+2h · +6h · +24h lead windows</a:t>
            </a:r>
            <a:endParaRPr sz="1000" b="1">
              <a:solidFill>
                <a:srgbClr val="515F70"/>
              </a:solidFill>
              <a:latin typeface="Consolas" panose="020B0609020204030204"/>
            </a:endParaRPr>
          </a:p>
        </p:txBody>
      </p:sp>
      <p:sp>
        <p:nvSpPr>
          <p:cNvPr id="15364" name="Rectangle 15363"/>
          <p:cNvSpPr/>
          <p:nvPr/>
        </p:nvSpPr>
        <p:spPr>
          <a:xfrm>
            <a:off x="630936" y="2651760"/>
            <a:ext cx="868680" cy="82296"/>
          </a:xfrm>
          <a:prstGeom prst="rect">
            <a:avLst/>
          </a:prstGeom>
          <a:solidFill>
            <a:srgbClr val="1E8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4297680" y="2395728"/>
            <a:ext cx="3611880" cy="2212848"/>
          </a:xfrm>
          <a:prstGeom prst="roundRect">
            <a:avLst>
              <a:gd name="adj" fmla="val 10000"/>
            </a:avLst>
          </a:prstGeom>
          <a:solidFill>
            <a:srgbClr val="0C182C"/>
          </a:solidFill>
          <a:ln w="16510">
            <a:solidFill>
              <a:srgbClr val="14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C8F6D"/>
                </a:solidFill>
                <a:latin typeface="Consolas" panose="020B0609020204030204"/>
              </a:rPr>
              <a:t>▣  INTERCEPT</a:t>
            </a:r>
            <a:endParaRPr sz="1700" b="1">
              <a:solidFill>
                <a:srgbClr val="0C8F6D"/>
              </a:solidFill>
              <a:latin typeface="Consolas" panose="020B0609020204030204"/>
            </a:endParaRP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1F5F9"/>
                </a:solidFill>
              </a:rPr>
              <a:t>Real ATM/bank layer (OpenStreetMap) for pre-positioning forces</a:t>
            </a:r>
            <a:endParaRPr sz="1250" b="0">
              <a:solidFill>
                <a:srgbClr val="F1F5F9"/>
              </a:solidFill>
            </a:endParaRP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515F70"/>
                </a:solidFill>
                <a:latin typeface="Consolas" panose="020B0609020204030204"/>
              </a:rPr>
              <a:t>Live geospatial data</a:t>
            </a:r>
            <a:endParaRPr sz="1000" b="1">
              <a:solidFill>
                <a:srgbClr val="515F70"/>
              </a:solidFill>
              <a:latin typeface="Consolas" panose="020B0609020204030204"/>
            </a:endParaRPr>
          </a:p>
        </p:txBody>
      </p:sp>
      <p:sp>
        <p:nvSpPr>
          <p:cNvPr id="15366" name="Rectangle 15365"/>
          <p:cNvSpPr/>
          <p:nvPr/>
        </p:nvSpPr>
        <p:spPr>
          <a:xfrm>
            <a:off x="4517136" y="2651760"/>
            <a:ext cx="868680" cy="82296"/>
          </a:xfrm>
          <a:prstGeom prst="rect">
            <a:avLst/>
          </a:prstGeom>
          <a:solidFill>
            <a:srgbClr val="0C8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Rounded Rectangle 15366"/>
          <p:cNvSpPr/>
          <p:nvPr/>
        </p:nvSpPr>
        <p:spPr>
          <a:xfrm>
            <a:off x="8183879" y="2395728"/>
            <a:ext cx="3611880" cy="2212848"/>
          </a:xfrm>
          <a:prstGeom prst="roundRect">
            <a:avLst>
              <a:gd name="adj" fmla="val 10000"/>
            </a:avLst>
          </a:prstGeom>
          <a:solidFill>
            <a:srgbClr val="0C182C"/>
          </a:solidFill>
          <a:ln w="16510">
            <a:solidFill>
              <a:srgbClr val="14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B47D08"/>
                </a:solidFill>
                <a:latin typeface="Consolas" panose="020B0609020204030204"/>
              </a:rPr>
              <a:t>⚠  PREVENT</a:t>
            </a:r>
            <a:endParaRPr sz="1700" b="1">
              <a:solidFill>
                <a:srgbClr val="B47D08"/>
              </a:solidFill>
              <a:latin typeface="Consolas" panose="020B0609020204030204"/>
            </a:endParaRP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1F5F9"/>
                </a:solidFill>
              </a:rPr>
              <a:t>QR fraud sensor stops scams at the payment entry point</a:t>
            </a:r>
            <a:endParaRPr sz="1250" b="0">
              <a:solidFill>
                <a:srgbClr val="F1F5F9"/>
              </a:solidFill>
            </a:endParaRPr>
          </a:p>
          <a:p>
            <a:pPr algn="l">
              <a:spcAft>
                <a:spcPts val="800"/>
              </a:spcAft>
            </a:pPr>
            <a:r>
              <a:rPr sz="1000" b="1">
                <a:solidFill>
                  <a:srgbClr val="515F70"/>
                </a:solidFill>
                <a:latin typeface="Consolas" panose="020B0609020204030204"/>
              </a:rPr>
              <a:t>NPCI rule engine + camera</a:t>
            </a:r>
            <a:endParaRPr sz="1000" b="1">
              <a:solidFill>
                <a:srgbClr val="515F70"/>
              </a:solidFill>
              <a:latin typeface="Consolas" panose="020B0609020204030204"/>
            </a:endParaRPr>
          </a:p>
        </p:txBody>
      </p:sp>
      <p:sp>
        <p:nvSpPr>
          <p:cNvPr id="15368" name="Rectangle 15367"/>
          <p:cNvSpPr/>
          <p:nvPr/>
        </p:nvSpPr>
        <p:spPr>
          <a:xfrm>
            <a:off x="8403336" y="2651760"/>
            <a:ext cx="868680" cy="82296"/>
          </a:xfrm>
          <a:prstGeom prst="rect">
            <a:avLst/>
          </a:prstGeom>
          <a:solidFill>
            <a:srgbClr val="B47D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411480" y="4846320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0B1626"/>
          </a:solidFill>
          <a:ln w="16510">
            <a:solidFill>
              <a:srgbClr val="1E8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F1F5F9"/>
                </a:solidFill>
                <a:latin typeface="Consolas" panose="020B0609020204030204"/>
              </a:rPr>
              <a:t>SHIFT:  Reactive — freeze after money is gone (HOURS)   →   Proactive — intercept before cash-out (MINUTES)</a:t>
            </a:r>
            <a:endParaRPr sz="1350" b="1">
              <a:solidFill>
                <a:srgbClr val="F1F5F9"/>
              </a:solidFill>
              <a:latin typeface="Consolas" panose="020B0609020204030204"/>
            </a:endParaRPr>
          </a:p>
        </p:txBody>
      </p:sp>
      <p:sp>
        <p:nvSpPr>
          <p:cNvPr id="15370" name="TextBox 15369"/>
          <p:cNvSpPr txBox="1"/>
          <p:nvPr/>
        </p:nvSpPr>
        <p:spPr>
          <a:xfrm>
            <a:off x="411480" y="587044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A3340"/>
                </a:solidFill>
              </a:rPr>
              <a:t>“We watch, so you’re safe.”  —  working prototype live 24/7</a:t>
            </a:r>
            <a:endParaRPr sz="1250" b="1">
              <a:solidFill>
                <a:srgbClr val="2A3340"/>
              </a:solidFill>
            </a:endParaRPr>
          </a:p>
        </p:txBody>
      </p:sp>
      <p:pic>
        <p:nvPicPr>
          <p:cNvPr id="15371" name="Picture 15370" descr="s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5806440"/>
            <a:ext cx="502920" cy="755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5" name="Google Shape;18465;p1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66" name="Google Shape;18466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 panose="02020603050405020304"/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TECHNICAL APPROACH</a:t>
            </a:r>
            <a:endParaRPr lang="en-US" sz="3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467" name="Google Shape;18467;p1"/>
          <p:cNvSpPr txBox="1"/>
          <p:nvPr/>
        </p:nvSpPr>
        <p:spPr>
          <a:xfrm>
            <a:off x="609600" y="2533653"/>
            <a:ext cx="9385200" cy="18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68" name="Google Shape;18468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469" name="Google Shape;18469;p1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70" name="Google Shape;18470;p1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 panose="020F0502020204030204"/>
              <a:buNone/>
            </a:pPr>
            <a:r>
              <a:rPr lang="en-IN" alt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</a:t>
            </a:r>
            <a:r>
              <a: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TEAM CYPHORA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471" name="Google Shape;18471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780086" y="1500"/>
            <a:ext cx="2249856" cy="1062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472" name="Google Shape;18472;p1"/>
          <p:cNvSpPr txBox="1"/>
          <p:nvPr/>
        </p:nvSpPr>
        <p:spPr>
          <a:xfrm>
            <a:off x="411480" y="1371600"/>
            <a:ext cx="11384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B5B"/>
              </a:buClr>
              <a:buSzPts val="1400"/>
              <a:buFont typeface="Consolas" panose="020B0609020204030204"/>
              <a:buNone/>
            </a:pPr>
            <a:r>
              <a:rPr lang="en-US" sz="1400" b="1">
                <a:solidFill>
                  <a:srgbClr val="0F2B5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   →   DECISION   →   ACTION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73" name="Google Shape;18473;p1"/>
          <p:cNvSpPr/>
          <p:nvPr/>
        </p:nvSpPr>
        <p:spPr>
          <a:xfrm>
            <a:off x="411480" y="1847088"/>
            <a:ext cx="2469000" cy="987600"/>
          </a:xfrm>
          <a:prstGeom prst="chevron">
            <a:avLst>
              <a:gd name="adj" fmla="val 10000"/>
            </a:avLst>
          </a:prstGeom>
          <a:solidFill>
            <a:srgbClr val="0B1626"/>
          </a:solidFill>
          <a:ln w="16500" cap="flat" cmpd="sng">
            <a:solidFill>
              <a:srgbClr val="1E8A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000" tIns="73150" rIns="12800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 panose="020B0609020204030204"/>
              <a:buNone/>
            </a:pPr>
            <a:r>
              <a:rPr lang="en-US" sz="1250" b="1">
                <a:solidFill>
                  <a:srgbClr val="F1F5F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LIVE INGEST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1E8AB5"/>
              </a:buClr>
              <a:buSzPts val="950"/>
              <a:buFont typeface="Consolas" panose="020B0609020204030204"/>
              <a:buNone/>
            </a:pPr>
            <a:r>
              <a:rPr lang="en-US" sz="950" b="0">
                <a:solidFill>
                  <a:srgbClr val="1E8AB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SSE + SQLite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74" name="Google Shape;18474;p1"/>
          <p:cNvSpPr/>
          <p:nvPr/>
        </p:nvSpPr>
        <p:spPr>
          <a:xfrm>
            <a:off x="2640330" y="1847088"/>
            <a:ext cx="2469000" cy="987600"/>
          </a:xfrm>
          <a:prstGeom prst="chevron">
            <a:avLst>
              <a:gd name="adj" fmla="val 10000"/>
            </a:avLst>
          </a:prstGeom>
          <a:solidFill>
            <a:srgbClr val="0B1626"/>
          </a:solidFill>
          <a:ln w="16500" cap="flat" cmpd="sng">
            <a:solidFill>
              <a:srgbClr val="1E8A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000" tIns="73150" rIns="12800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 panose="020B0609020204030204"/>
              <a:buNone/>
            </a:pPr>
            <a:r>
              <a:rPr lang="en-US" sz="1250" b="1">
                <a:solidFill>
                  <a:srgbClr val="F1F5F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PREDICT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1E8AB5"/>
              </a:buClr>
              <a:buSzPts val="950"/>
              <a:buFont typeface="Consolas" panose="020B0609020204030204"/>
              <a:buNone/>
            </a:pPr>
            <a:r>
              <a:rPr lang="en-US" sz="950" b="0">
                <a:solidFill>
                  <a:srgbClr val="1E8AB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Hawkes process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75" name="Google Shape;18475;p1"/>
          <p:cNvSpPr/>
          <p:nvPr/>
        </p:nvSpPr>
        <p:spPr>
          <a:xfrm>
            <a:off x="4869180" y="1847088"/>
            <a:ext cx="2469000" cy="987600"/>
          </a:xfrm>
          <a:prstGeom prst="chevron">
            <a:avLst>
              <a:gd name="adj" fmla="val 10000"/>
            </a:avLst>
          </a:prstGeom>
          <a:solidFill>
            <a:srgbClr val="0B1626"/>
          </a:solidFill>
          <a:ln w="16500" cap="flat" cmpd="sng">
            <a:solidFill>
              <a:srgbClr val="1E8A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000" tIns="73150" rIns="12800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 panose="020B0609020204030204"/>
              <a:buNone/>
            </a:pPr>
            <a:r>
              <a:rPr lang="en-US" sz="1250" b="1">
                <a:solidFill>
                  <a:srgbClr val="F1F5F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VISUALIZE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1E8AB5"/>
              </a:buClr>
              <a:buSzPts val="950"/>
              <a:buFont typeface="Consolas" panose="020B0609020204030204"/>
              <a:buNone/>
            </a:pPr>
            <a:r>
              <a:rPr lang="en-US" sz="950" b="0">
                <a:solidFill>
                  <a:srgbClr val="1E8AB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Satellite + OSM ATMs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76" name="Google Shape;18476;p1"/>
          <p:cNvSpPr/>
          <p:nvPr/>
        </p:nvSpPr>
        <p:spPr>
          <a:xfrm>
            <a:off x="7098030" y="1847088"/>
            <a:ext cx="2469000" cy="987600"/>
          </a:xfrm>
          <a:prstGeom prst="chevron">
            <a:avLst>
              <a:gd name="adj" fmla="val 10000"/>
            </a:avLst>
          </a:prstGeom>
          <a:solidFill>
            <a:srgbClr val="0B1626"/>
          </a:solidFill>
          <a:ln w="16500" cap="flat" cmpd="sng">
            <a:solidFill>
              <a:srgbClr val="1E8A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000" tIns="73150" rIns="12800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 panose="020B0609020204030204"/>
              <a:buNone/>
            </a:pPr>
            <a:r>
              <a:rPr lang="en-US" sz="1250" b="1">
                <a:solidFill>
                  <a:srgbClr val="F1F5F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DETECT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1E8AB5"/>
              </a:buClr>
              <a:buSzPts val="950"/>
              <a:buFont typeface="Consolas" panose="020B0609020204030204"/>
              <a:buNone/>
            </a:pPr>
            <a:r>
              <a:rPr lang="en-US" sz="950" b="0">
                <a:solidFill>
                  <a:srgbClr val="1E8AB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QR rules + EWMA AI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77" name="Google Shape;18477;p1"/>
          <p:cNvSpPr/>
          <p:nvPr/>
        </p:nvSpPr>
        <p:spPr>
          <a:xfrm>
            <a:off x="9326880" y="1847088"/>
            <a:ext cx="2469000" cy="987600"/>
          </a:xfrm>
          <a:prstGeom prst="chevron">
            <a:avLst>
              <a:gd name="adj" fmla="val 10000"/>
            </a:avLst>
          </a:prstGeom>
          <a:solidFill>
            <a:srgbClr val="0B1626"/>
          </a:solidFill>
          <a:ln w="16500" cap="flat" cmpd="sng">
            <a:solidFill>
              <a:srgbClr val="1E8A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000" tIns="73150" rIns="12800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onsolas" panose="020B0609020204030204"/>
              <a:buNone/>
            </a:pPr>
            <a:r>
              <a:rPr lang="en-US" sz="1250" b="1">
                <a:solidFill>
                  <a:srgbClr val="F1F5F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ACT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1E8AB5"/>
              </a:buClr>
              <a:buSzPts val="950"/>
              <a:buFont typeface="Consolas" panose="020B0609020204030204"/>
              <a:buNone/>
            </a:pPr>
            <a:r>
              <a:rPr lang="en-US" sz="950" b="0">
                <a:solidFill>
                  <a:srgbClr val="1E8AB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Sec.102 dossier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78" name="Google Shape;18478;p1"/>
          <p:cNvSpPr/>
          <p:nvPr/>
        </p:nvSpPr>
        <p:spPr>
          <a:xfrm>
            <a:off x="411480" y="3035808"/>
            <a:ext cx="11384400" cy="530400"/>
          </a:xfrm>
          <a:prstGeom prst="roundRect">
            <a:avLst>
              <a:gd name="adj" fmla="val 10000"/>
            </a:avLst>
          </a:prstGeom>
          <a:noFill/>
          <a:ln w="16500" cap="flat" cmpd="sng">
            <a:solidFill>
              <a:srgbClr val="1426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000" tIns="73150" rIns="12800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B5B"/>
              </a:buClr>
              <a:buSzPts val="1200"/>
              <a:buFont typeface="Consolas" panose="020B0609020204030204"/>
              <a:buNone/>
            </a:pPr>
            <a:r>
              <a:rPr lang="en-US" sz="1200" b="0">
                <a:solidFill>
                  <a:srgbClr val="0F2B5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Python stdlib  ·  SSE  ·  SQLite  ·  Leaflet + ESRI/OSM  ·  BarcodeDetector  ·  Gemini LLM (optional)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480" name="Google Shape;18480;p1" descr="sih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475720" y="5806440"/>
            <a:ext cx="502920" cy="75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2" name="Google Shape;18482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4960" y="3634105"/>
            <a:ext cx="2694940" cy="230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3" name="Google Shape;18483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066415" y="3621405"/>
            <a:ext cx="2832100" cy="2341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4" name="Google Shape;18484;p1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815705" y="3625215"/>
            <a:ext cx="2997200" cy="2271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5" name="Google Shape;18485;p1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955030" y="3618865"/>
            <a:ext cx="2804160" cy="231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88" name="Google Shape;18488;p1"/>
          <p:cNvSpPr txBox="1"/>
          <p:nvPr/>
        </p:nvSpPr>
        <p:spPr>
          <a:xfrm>
            <a:off x="6226810" y="5996940"/>
            <a:ext cx="575183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r>
              <a:rPr lang="en-US" sz="3200" b="1" i="0" u="sng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How to scan</a:t>
            </a:r>
            <a:r>
              <a:rPr lang="en-US" sz="32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:</a:t>
            </a:r>
            <a:r>
              <a:rPr lang="en-US" sz="3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QR Analytics tab → Open Camera → hold until edges flash green → verdict</a:t>
            </a:r>
            <a:endParaRPr sz="3200" b="0" i="0" u="none" strike="noStrike" cap="non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89" name="Google Shape;18489;p1"/>
          <p:cNvSpPr txBox="1"/>
          <p:nvPr/>
        </p:nvSpPr>
        <p:spPr>
          <a:xfrm>
            <a:off x="371325" y="5996050"/>
            <a:ext cx="5973300" cy="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r>
              <a:rPr lang="en-US" sz="3200" b="1" i="0" u="sng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Risk map</a:t>
            </a:r>
            <a:r>
              <a:rPr lang="en-US"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: default view with other available style. On one click shows the ATM locations in data.  Shows risk score for each location on tap with downloadable report pdf and ai briefing .</a:t>
            </a:r>
            <a:r>
              <a:rPr lang="en-US" sz="3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One click LIVE DEMO shows how it works.</a:t>
            </a:r>
            <a:endParaRPr sz="3200" b="0" i="0" u="none" strike="noStrike" cap="non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000"/>
              <a:t>   </a:t>
            </a:r>
            <a:r>
              <a:rPr sz="1000"/>
              <a:t>TEAM CYPHORA</a:t>
            </a:r>
            <a:endParaRPr sz="10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829435"/>
            <a:ext cx="3749040" cy="3675380"/>
          </a:xfrm>
          <a:prstGeom prst="roundRect">
            <a:avLst>
              <a:gd name="adj" fmla="val 10000"/>
            </a:avLst>
          </a:prstGeom>
          <a:solidFill>
            <a:srgbClr val="0C182C"/>
          </a:solidFill>
          <a:ln w="16510">
            <a:solidFill>
              <a:srgbClr val="14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1200"/>
              </a:spcAft>
            </a:pPr>
            <a:r>
              <a:rPr lang="en-IN" sz="1550" b="1">
                <a:solidFill>
                  <a:srgbClr val="0C8F6D"/>
                </a:solidFill>
                <a:latin typeface="Consolas" panose="020B0609020204030204"/>
              </a:rPr>
              <a:t>  </a:t>
            </a:r>
            <a:endParaRPr lang="en-IN" sz="1550" b="1">
              <a:solidFill>
                <a:srgbClr val="0C8F6D"/>
              </a:solidFill>
              <a:latin typeface="Consolas" panose="020B0609020204030204"/>
            </a:endParaRPr>
          </a:p>
          <a:p>
            <a:pPr algn="l">
              <a:spcAft>
                <a:spcPts val="1200"/>
              </a:spcAft>
            </a:pPr>
            <a:r>
              <a:rPr sz="1550" b="1">
                <a:solidFill>
                  <a:srgbClr val="0C8F6D"/>
                </a:solidFill>
                <a:latin typeface="Consolas" panose="020B0609020204030204"/>
              </a:rPr>
              <a:t>✓ FEASIBLE NOW</a:t>
            </a:r>
            <a:endParaRPr sz="1550" b="1">
              <a:solidFill>
                <a:srgbClr val="0C8F6D"/>
              </a:solidFill>
              <a:latin typeface="Consolas" panose="020B0609020204030204"/>
            </a:endParaRPr>
          </a:p>
          <a:p>
            <a:pPr algn="l">
              <a:spcAft>
                <a:spcPts val="1200"/>
              </a:spcAft>
            </a:pPr>
            <a:endParaRPr sz="1250" b="0">
              <a:solidFill>
                <a:srgbClr val="F1F5F9"/>
              </a:solidFill>
            </a:endParaRP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1F5F9"/>
                </a:solidFill>
              </a:rPr>
              <a:t>•  Prototype live 24/7 on cloud</a:t>
            </a:r>
            <a:endParaRPr sz="1250" b="0">
              <a:solidFill>
                <a:srgbClr val="F1F5F9"/>
              </a:solidFill>
            </a:endParaRP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1F5F9"/>
                </a:solidFill>
              </a:rPr>
              <a:t>•  Zero dependencies — stdlib only</a:t>
            </a:r>
            <a:endParaRPr sz="1250" b="0">
              <a:solidFill>
                <a:srgbClr val="F1F5F9"/>
              </a:solidFill>
            </a:endParaRP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1F5F9"/>
                </a:solidFill>
              </a:rPr>
              <a:t>•  Deployable on-prem / air-gapped</a:t>
            </a:r>
            <a:endParaRPr sz="1250" b="0">
              <a:solidFill>
                <a:srgbClr val="F1F5F9"/>
              </a:solidFill>
            </a:endParaRP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1F5F9"/>
                </a:solidFill>
              </a:rPr>
              <a:t>•  Full demo replays in &lt; 1 min</a:t>
            </a:r>
            <a:endParaRPr sz="1250" b="0">
              <a:solidFill>
                <a:srgbClr val="F1F5F9"/>
              </a:solidFill>
            </a:endParaRPr>
          </a:p>
        </p:txBody>
      </p:sp>
      <p:sp>
        <p:nvSpPr>
          <p:cNvPr id="17413" name="TextBox 17412"/>
          <p:cNvSpPr txBox="1"/>
          <p:nvPr/>
        </p:nvSpPr>
        <p:spPr>
          <a:xfrm>
            <a:off x="4434840" y="1389888"/>
            <a:ext cx="704088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B47D08"/>
                </a:solidFill>
                <a:latin typeface="Consolas" panose="020B0609020204030204"/>
              </a:rPr>
              <a:t>RISK</a:t>
            </a:r>
            <a:endParaRPr sz="1200" b="1" dirty="0">
              <a:solidFill>
                <a:srgbClr val="B47D08"/>
              </a:solidFill>
              <a:latin typeface="Consolas" panose="020B0609020204030204"/>
            </a:endParaRPr>
          </a:p>
        </p:txBody>
      </p:sp>
      <p:sp>
        <p:nvSpPr>
          <p:cNvPr id="17414" name="TextBox 17413"/>
          <p:cNvSpPr txBox="1"/>
          <p:nvPr/>
        </p:nvSpPr>
        <p:spPr>
          <a:xfrm>
            <a:off x="8275320" y="13898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8AB5"/>
                </a:solidFill>
                <a:latin typeface="Consolas" panose="020B0609020204030204"/>
              </a:rPr>
              <a:t>MITIGATION</a:t>
            </a:r>
            <a:endParaRPr sz="1200" b="1">
              <a:solidFill>
                <a:srgbClr val="1E8AB5"/>
              </a:solidFill>
              <a:latin typeface="Consolas" panose="020B0609020204030204"/>
            </a:endParaRPr>
          </a:p>
        </p:txBody>
      </p:sp>
      <p:sp>
        <p:nvSpPr>
          <p:cNvPr id="17415" name="Rounded Rectangle 17414"/>
          <p:cNvSpPr/>
          <p:nvPr/>
        </p:nvSpPr>
        <p:spPr>
          <a:xfrm>
            <a:off x="4434840" y="17830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0B1626"/>
          </a:solidFill>
          <a:ln w="16510">
            <a:solidFill>
              <a:srgbClr val="B47D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</a:rPr>
              <a:t>No public NCRP / CFCFRMS API</a:t>
            </a:r>
            <a:endParaRPr sz="1150" b="1">
              <a:solidFill>
                <a:srgbClr val="F1F5F9"/>
              </a:solidFill>
            </a:endParaRPr>
          </a:p>
        </p:txBody>
      </p:sp>
      <p:sp>
        <p:nvSpPr>
          <p:cNvPr id="17416" name="Right Arrow 17415"/>
          <p:cNvSpPr/>
          <p:nvPr/>
        </p:nvSpPr>
        <p:spPr>
          <a:xfrm>
            <a:off x="7772400" y="2093976"/>
            <a:ext cx="457200" cy="45720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51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8275320" y="17830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0B1626"/>
          </a:solidFill>
          <a:ln w="16510">
            <a:solidFill>
              <a:srgbClr val="1E8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</a:rPr>
              <a:t>Adapter ingest + live SMS-forwarder path</a:t>
            </a:r>
            <a:endParaRPr sz="1150" b="1">
              <a:solidFill>
                <a:srgbClr val="F1F5F9"/>
              </a:solidFill>
            </a:endParaRPr>
          </a:p>
        </p:txBody>
      </p:sp>
      <p:sp>
        <p:nvSpPr>
          <p:cNvPr id="17418" name="Rounded Rectangle 17417"/>
          <p:cNvSpPr/>
          <p:nvPr/>
        </p:nvSpPr>
        <p:spPr>
          <a:xfrm>
            <a:off x="4434840" y="3044952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0B1626"/>
          </a:solidFill>
          <a:ln w="16510">
            <a:solidFill>
              <a:srgbClr val="B47D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</a:rPr>
              <a:t>Victim PII sensitivity</a:t>
            </a:r>
            <a:endParaRPr sz="1150" b="1">
              <a:solidFill>
                <a:srgbClr val="F1F5F9"/>
              </a:solidFill>
            </a:endParaRPr>
          </a:p>
        </p:txBody>
      </p:sp>
      <p:sp>
        <p:nvSpPr>
          <p:cNvPr id="17419" name="Right Arrow 17418"/>
          <p:cNvSpPr/>
          <p:nvPr/>
        </p:nvSpPr>
        <p:spPr>
          <a:xfrm>
            <a:off x="7772400" y="3355848"/>
            <a:ext cx="457200" cy="45720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51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8275320" y="3044952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0B1626"/>
          </a:solidFill>
          <a:ln w="16510">
            <a:solidFill>
              <a:srgbClr val="1E8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</a:rPr>
              <a:t>On-prem deployment — PII never leaves</a:t>
            </a:r>
            <a:endParaRPr sz="1150" b="1">
              <a:solidFill>
                <a:srgbClr val="F1F5F9"/>
              </a:solidFill>
            </a:endParaRPr>
          </a:p>
        </p:txBody>
      </p:sp>
      <p:sp>
        <p:nvSpPr>
          <p:cNvPr id="17421" name="Rounded Rectangle 17420"/>
          <p:cNvSpPr/>
          <p:nvPr/>
        </p:nvSpPr>
        <p:spPr>
          <a:xfrm>
            <a:off x="4434840" y="4306824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0B1626"/>
          </a:solidFill>
          <a:ln w="16510">
            <a:solidFill>
              <a:srgbClr val="B47D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</a:rPr>
              <a:t>Free-tier uptime / cold starts</a:t>
            </a:r>
            <a:endParaRPr sz="1150" b="1">
              <a:solidFill>
                <a:srgbClr val="F1F5F9"/>
              </a:solidFill>
            </a:endParaRPr>
          </a:p>
        </p:txBody>
      </p:sp>
      <p:sp>
        <p:nvSpPr>
          <p:cNvPr id="17422" name="Right Arrow 17421"/>
          <p:cNvSpPr/>
          <p:nvPr/>
        </p:nvSpPr>
        <p:spPr>
          <a:xfrm>
            <a:off x="7772400" y="4617720"/>
            <a:ext cx="457200" cy="45720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515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8275320" y="4306824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0B1626"/>
          </a:solidFill>
          <a:ln w="16510">
            <a:solidFill>
              <a:srgbClr val="1E8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1F5F9"/>
                </a:solidFill>
              </a:rPr>
              <a:t>Keep-alive monitor + 1-command port</a:t>
            </a:r>
            <a:endParaRPr sz="1150" b="1">
              <a:solidFill>
                <a:srgbClr val="F1F5F9"/>
              </a:solidFill>
            </a:endParaRPr>
          </a:p>
        </p:txBody>
      </p:sp>
      <p:sp>
        <p:nvSpPr>
          <p:cNvPr id="17424" name="Rounded Rectangle 17423"/>
          <p:cNvSpPr/>
          <p:nvPr/>
        </p:nvSpPr>
        <p:spPr>
          <a:xfrm>
            <a:off x="2468879" y="5568696"/>
            <a:ext cx="7311207" cy="740664"/>
          </a:xfrm>
          <a:prstGeom prst="roundRect">
            <a:avLst>
              <a:gd name="adj" fmla="val 10000"/>
            </a:avLst>
          </a:prstGeom>
          <a:solidFill>
            <a:srgbClr val="0B1626"/>
          </a:solidFill>
          <a:ln w="16510">
            <a:solidFill>
              <a:srgbClr val="0C8F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C8F6D"/>
                </a:solidFill>
                <a:latin typeface="Consolas" panose="020B0609020204030204"/>
              </a:rPr>
              <a:t>PROTOTYPE LIVE NOW  →  nirikshanv2.onrender.com</a:t>
            </a:r>
            <a:endParaRPr sz="1500" b="1">
              <a:solidFill>
                <a:srgbClr val="0C8F6D"/>
              </a:solidFill>
              <a:latin typeface="Consolas" panose="020B0609020204030204"/>
            </a:endParaRPr>
          </a:p>
        </p:txBody>
      </p:sp>
      <p:pic>
        <p:nvPicPr>
          <p:cNvPr id="17425" name="Picture 17424" descr="s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5806440"/>
            <a:ext cx="502920" cy="755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000"/>
              <a:t>   </a:t>
            </a:r>
            <a:r>
              <a:rPr sz="1000"/>
              <a:t>TEAM CYPHORA</a:t>
            </a:r>
            <a:endParaRPr sz="10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463040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0C182C"/>
          </a:solidFill>
          <a:ln w="16510">
            <a:solidFill>
              <a:srgbClr val="14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1E8AB5"/>
                </a:solidFill>
                <a:latin typeface="Consolas" panose="020B0609020204030204"/>
              </a:rPr>
              <a:t>MINUTES</a:t>
            </a:r>
            <a:endParaRPr sz="3000" b="1">
              <a:solidFill>
                <a:srgbClr val="1E8AB5"/>
              </a:solidFill>
              <a:latin typeface="Consolas" panose="020B0609020204030204"/>
            </a:endParaRPr>
          </a:p>
          <a:p>
            <a:pPr algn="ctr">
              <a:spcAft>
                <a:spcPts val="1000"/>
              </a:spcAft>
            </a:pPr>
            <a:r>
              <a:rPr sz="1200" b="0">
                <a:solidFill>
                  <a:srgbClr val="F1F5F9"/>
                </a:solidFill>
              </a:rPr>
              <a:t>interception lead time, not hours —
pre-position before cash-out</a:t>
            </a:r>
            <a:endParaRPr sz="1200" b="0">
              <a:solidFill>
                <a:srgbClr val="F1F5F9"/>
              </a:solidFill>
            </a:endParaRPr>
          </a:p>
        </p:txBody>
      </p:sp>
      <p:sp>
        <p:nvSpPr>
          <p:cNvPr id="17412" name="Rectangle 17411"/>
          <p:cNvSpPr/>
          <p:nvPr/>
        </p:nvSpPr>
        <p:spPr>
          <a:xfrm>
            <a:off x="630936" y="1737360"/>
            <a:ext cx="868680" cy="82296"/>
          </a:xfrm>
          <a:prstGeom prst="rect">
            <a:avLst/>
          </a:prstGeom>
          <a:solidFill>
            <a:srgbClr val="1E8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4297680" y="1463040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0C182C"/>
          </a:solidFill>
          <a:ln w="16510">
            <a:solidFill>
              <a:srgbClr val="14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0C8F6D"/>
                </a:solidFill>
                <a:latin typeface="Consolas" panose="020B0609020204030204"/>
              </a:rPr>
              <a:t>ZERO</a:t>
            </a:r>
            <a:endParaRPr sz="3000" b="1">
              <a:solidFill>
                <a:srgbClr val="0C8F6D"/>
              </a:solidFill>
              <a:latin typeface="Consolas" panose="020B0609020204030204"/>
            </a:endParaRPr>
          </a:p>
          <a:p>
            <a:pPr algn="ctr">
              <a:spcAft>
                <a:spcPts val="1000"/>
              </a:spcAft>
            </a:pPr>
            <a:r>
              <a:rPr sz="1200" b="0">
                <a:solidFill>
                  <a:srgbClr val="F1F5F9"/>
                </a:solidFill>
              </a:rPr>
              <a:t>blanket freezes — every lien capped to
disputed value (Sec.102 BNSS)</a:t>
            </a:r>
            <a:endParaRPr sz="1200" b="0">
              <a:solidFill>
                <a:srgbClr val="F1F5F9"/>
              </a:solidFill>
            </a:endParaRPr>
          </a:p>
        </p:txBody>
      </p:sp>
      <p:sp>
        <p:nvSpPr>
          <p:cNvPr id="17414" name="Rectangle 17413"/>
          <p:cNvSpPr/>
          <p:nvPr/>
        </p:nvSpPr>
        <p:spPr>
          <a:xfrm>
            <a:off x="4517136" y="1737360"/>
            <a:ext cx="868680" cy="82296"/>
          </a:xfrm>
          <a:prstGeom prst="rect">
            <a:avLst/>
          </a:prstGeom>
          <a:solidFill>
            <a:srgbClr val="0C8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8183879" y="1463040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0C182C"/>
          </a:solidFill>
          <a:ln w="16510">
            <a:solidFill>
              <a:srgbClr val="14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B47D08"/>
                </a:solidFill>
                <a:latin typeface="Consolas" panose="020B0609020204030204"/>
              </a:rPr>
              <a:t>HOUR 1</a:t>
            </a:r>
            <a:endParaRPr sz="3000" b="1">
              <a:solidFill>
                <a:srgbClr val="B47D08"/>
              </a:solidFill>
              <a:latin typeface="Consolas" panose="020B0609020204030204"/>
            </a:endParaRPr>
          </a:p>
          <a:p>
            <a:pPr algn="ctr">
              <a:spcAft>
                <a:spcPts val="1000"/>
              </a:spcAft>
            </a:pPr>
            <a:r>
              <a:rPr sz="1200" b="0">
                <a:solidFill>
                  <a:srgbClr val="F1F5F9"/>
                </a:solidFill>
              </a:rPr>
              <a:t>the critical recovery window —
KPIs instrumented live on dashboard</a:t>
            </a:r>
            <a:endParaRPr sz="1200" b="0">
              <a:solidFill>
                <a:srgbClr val="F1F5F9"/>
              </a:solidFill>
            </a:endParaRPr>
          </a:p>
        </p:txBody>
      </p:sp>
      <p:sp>
        <p:nvSpPr>
          <p:cNvPr id="17416" name="Rectangle 17415"/>
          <p:cNvSpPr/>
          <p:nvPr/>
        </p:nvSpPr>
        <p:spPr>
          <a:xfrm>
            <a:off x="8403336" y="1737360"/>
            <a:ext cx="868680" cy="82296"/>
          </a:xfrm>
          <a:prstGeom prst="rect">
            <a:avLst/>
          </a:prstGeom>
          <a:solidFill>
            <a:srgbClr val="B47D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11480" y="379476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0B1626"/>
          </a:solidFill>
          <a:ln w="16510">
            <a:solidFill>
              <a:srgbClr val="14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E8AB5"/>
                </a:solidFill>
                <a:latin typeface="Consolas" panose="020B0609020204030204"/>
              </a:rPr>
              <a:t>I4C &amp; CYBER CELLS</a:t>
            </a:r>
            <a:endParaRPr sz="1250" b="1">
              <a:solidFill>
                <a:srgbClr val="1E8AB5"/>
              </a:solidFill>
              <a:latin typeface="Consolas" panose="020B0609020204030204"/>
            </a:endParaRP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1F5F9"/>
                </a:solidFill>
              </a:rPr>
              <a:t>minutes-level proactive interception</a:t>
            </a:r>
            <a:endParaRPr sz="1050" b="0">
              <a:solidFill>
                <a:srgbClr val="F1F5F9"/>
              </a:solidFill>
            </a:endParaRPr>
          </a:p>
        </p:txBody>
      </p:sp>
      <p:sp>
        <p:nvSpPr>
          <p:cNvPr id="17418" name="Rounded Rectangle 17417"/>
          <p:cNvSpPr/>
          <p:nvPr/>
        </p:nvSpPr>
        <p:spPr>
          <a:xfrm>
            <a:off x="4297680" y="379476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0B1626"/>
          </a:solidFill>
          <a:ln w="16510">
            <a:solidFill>
              <a:srgbClr val="14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C8F6D"/>
                </a:solidFill>
                <a:latin typeface="Consolas" panose="020B0609020204030204"/>
              </a:rPr>
              <a:t>BANK NODAL OFFICERS</a:t>
            </a:r>
            <a:endParaRPr sz="1250" b="1">
              <a:solidFill>
                <a:srgbClr val="0C8F6D"/>
              </a:solidFill>
              <a:latin typeface="Consolas" panose="020B0609020204030204"/>
            </a:endParaRP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1F5F9"/>
                </a:solidFill>
              </a:rPr>
              <a:t>precise, legally-capped lien advisories</a:t>
            </a:r>
            <a:endParaRPr sz="1050" b="0">
              <a:solidFill>
                <a:srgbClr val="F1F5F9"/>
              </a:solidFill>
            </a:endParaRPr>
          </a:p>
        </p:txBody>
      </p:sp>
      <p:sp>
        <p:nvSpPr>
          <p:cNvPr id="17419" name="Rounded Rectangle 17418"/>
          <p:cNvSpPr/>
          <p:nvPr/>
        </p:nvSpPr>
        <p:spPr>
          <a:xfrm>
            <a:off x="8183879" y="379476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0B1626"/>
          </a:solidFill>
          <a:ln w="16510">
            <a:solidFill>
              <a:srgbClr val="14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B47D08"/>
                </a:solidFill>
                <a:latin typeface="Consolas" panose="020B0609020204030204"/>
              </a:rPr>
              <a:t>CITIZENS</a:t>
            </a:r>
            <a:endParaRPr sz="1250" b="1">
              <a:solidFill>
                <a:srgbClr val="B47D08"/>
              </a:solidFill>
              <a:latin typeface="Consolas" panose="020B0609020204030204"/>
            </a:endParaRP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1F5F9"/>
                </a:solidFill>
              </a:rPr>
              <a:t>protection at the scam entry point itself</a:t>
            </a:r>
            <a:endParaRPr sz="1050" b="0">
              <a:solidFill>
                <a:srgbClr val="F1F5F9"/>
              </a:solidFill>
            </a:endParaRPr>
          </a:p>
        </p:txBody>
      </p:sp>
      <p:sp>
        <p:nvSpPr>
          <p:cNvPr id="17420" name="Rounded Rectangle 17419"/>
          <p:cNvSpPr/>
          <p:nvPr/>
        </p:nvSpPr>
        <p:spPr>
          <a:xfrm>
            <a:off x="1183316" y="5029199"/>
            <a:ext cx="9856218" cy="1155177"/>
          </a:xfrm>
          <a:prstGeom prst="roundRect">
            <a:avLst>
              <a:gd name="adj" fmla="val 10000"/>
            </a:avLst>
          </a:prstGeom>
          <a:solidFill>
            <a:srgbClr val="0B1626"/>
          </a:solidFill>
          <a:ln w="16510">
            <a:solidFill>
              <a:srgbClr val="142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200" b="1" dirty="0">
                <a:solidFill>
                  <a:srgbClr val="F1F5F9"/>
                </a:solidFill>
                <a:latin typeface="Consolas" panose="020B0609020204030204"/>
              </a:rPr>
              <a:t>SOCIAL: faster recovery, trust in digital payments     ·   ECONOMIC: near-zero infra cost, scales nationally     · MEASURED: live KPIs</a:t>
            </a:r>
            <a:endParaRPr sz="1200" b="1" dirty="0">
              <a:solidFill>
                <a:srgbClr val="F1F5F9"/>
              </a:solidFill>
              <a:latin typeface="Consolas" panose="020B0609020204030204"/>
            </a:endParaRPr>
          </a:p>
        </p:txBody>
      </p:sp>
      <p:pic>
        <p:nvPicPr>
          <p:cNvPr id="17421" name="Picture 17420" descr="s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5806440"/>
            <a:ext cx="502920" cy="755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1" name="Google Shape;18491;p2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92" name="Google Shape;18492;p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RESEARCH  AND REFERENCES</a:t>
            </a:r>
            <a:endParaRPr lang="en-US" sz="3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493" name="Google Shape;18493;p2"/>
          <p:cNvSpPr txBox="1"/>
          <p:nvPr/>
        </p:nvSpPr>
        <p:spPr>
          <a:xfrm>
            <a:off x="609600" y="2795263"/>
            <a:ext cx="938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165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sz="2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494" name="Google Shape;18494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95" name="Google Shape;18495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96" name="Google Shape;18496;p2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</a:t>
            </a:r>
            <a:r>
              <a: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TEAM </a:t>
            </a:r>
            <a:r>
              <a:rPr lang="en-IN" alt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</a:t>
            </a:r>
            <a:r>
              <a: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CYPHORA</a:t>
            </a:r>
            <a:endParaRPr lang="en-US" sz="1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497" name="Google Shape;18497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780086" y="1500"/>
            <a:ext cx="2249856" cy="1062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498" name="Google Shape;18498;p2"/>
          <p:cNvSpPr/>
          <p:nvPr/>
        </p:nvSpPr>
        <p:spPr>
          <a:xfrm>
            <a:off x="329281" y="1871784"/>
            <a:ext cx="5577900" cy="416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00" cap="flat" cmpd="sng">
            <a:solidFill>
              <a:srgbClr val="1426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000" tIns="73150" rIns="128000" bIns="73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2B5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MODEL &amp; RULES</a:t>
            </a:r>
            <a:endParaRPr sz="18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Hawkes (1971) — self-exciting point processes</a:t>
            </a:r>
            <a:endParaRPr lang="en-US" b="0">
              <a:solidFill>
                <a:srgbClr val="2A33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Mohler et al. (2011) — predictive crime mapping</a:t>
            </a:r>
            <a:endParaRPr lang="en-US" b="0">
              <a:solidFill>
                <a:srgbClr val="2A33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NPCI UPI technical documentation (upi:// spec)</a:t>
            </a:r>
            <a:endParaRPr lang="en-US" b="0">
              <a:solidFill>
                <a:srgbClr val="2A33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Rajasthan HC (Aug 2026) — Sec.102 proportionality</a:t>
            </a:r>
            <a:endParaRPr lang="en-US" b="0">
              <a:solidFill>
                <a:srgbClr val="2A33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RBI Annual Report — payment-fraud trends</a:t>
            </a:r>
            <a:endParaRPr b="0">
              <a:solidFill>
                <a:srgbClr val="2A33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SMS-forwarder live ingest — genuinely live complaint path</a:t>
            </a:r>
            <a:endParaRPr>
              <a:solidFill>
                <a:srgbClr val="2A33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99" name="Google Shape;18499;p2"/>
          <p:cNvSpPr/>
          <p:nvPr/>
        </p:nvSpPr>
        <p:spPr>
          <a:xfrm>
            <a:off x="6131560" y="1452880"/>
            <a:ext cx="5618480" cy="2250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00" cap="flat" cmpd="sng">
            <a:solidFill>
              <a:srgbClr val="1426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000" tIns="73150" rIns="128000" bIns="73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2B5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 &amp; MAPS</a:t>
            </a:r>
            <a:endParaRPr sz="1800" dirty="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I4C · </a:t>
            </a:r>
            <a:r>
              <a:rPr lang="en-US" sz="1600" b="0" dirty="0" err="1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cybercrime.gov.in</a:t>
            </a:r>
            <a:r>
              <a:rPr lang="en-US" sz="1600" b="0" dirty="0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(NCRP)</a:t>
            </a:r>
            <a:endParaRPr sz="1600" dirty="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OpenStreetMap</a:t>
            </a:r>
            <a:r>
              <a:rPr lang="en-US" sz="1600" b="0" dirty="0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Overpass API — live ATM layer</a:t>
            </a:r>
            <a:endParaRPr sz="1600" dirty="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ESRI World Imagery </a:t>
            </a:r>
            <a:r>
              <a:rPr lang="en-US" sz="1600" b="0" dirty="0" err="1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basemaps</a:t>
            </a:r>
            <a:endParaRPr sz="1600" dirty="0"/>
          </a:p>
        </p:txBody>
      </p:sp>
      <p:sp>
        <p:nvSpPr>
          <p:cNvPr id="18500" name="Google Shape;18500;p2"/>
          <p:cNvSpPr/>
          <p:nvPr/>
        </p:nvSpPr>
        <p:spPr>
          <a:xfrm>
            <a:off x="6131560" y="3879850"/>
            <a:ext cx="3977640" cy="22510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00" cap="flat" cmpd="sng">
            <a:solidFill>
              <a:srgbClr val="0C8F6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000" tIns="73150" rIns="128000" bIns="73150" anchor="t" anchorCtr="0">
            <a:noAutofit/>
          </a:bodyPr>
          <a:lstStyle/>
          <a:p>
            <a:pPr marL="285750" marR="0" lvl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2B5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THIS PROTOTYPE — LIVE</a:t>
            </a:r>
            <a:endParaRPr dirty="0"/>
          </a:p>
          <a:p>
            <a:pPr marL="285750" marR="0" lvl="0" indent="-285750" algn="l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E8AB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  <a:hlinkClick r:id="rId2"/>
              </a:rPr>
              <a:t>github.com</a:t>
            </a:r>
            <a:r>
              <a:rPr lang="en-US" b="1" dirty="0">
                <a:solidFill>
                  <a:srgbClr val="1E8AB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  <a:hlinkClick r:id="rId2"/>
              </a:rPr>
              <a:t>/</a:t>
            </a:r>
            <a:r>
              <a:rPr lang="en-US" b="1" dirty="0" err="1">
                <a:solidFill>
                  <a:srgbClr val="1E8AB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  <a:hlinkClick r:id="rId2"/>
              </a:rPr>
              <a:t>Yosa-Shiawase</a:t>
            </a:r>
            <a:r>
              <a:rPr lang="en-US" b="1" dirty="0">
                <a:solidFill>
                  <a:srgbClr val="1E8AB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  <a:hlinkClick r:id="rId2"/>
              </a:rPr>
              <a:t>/Nirikshanv2</a:t>
            </a:r>
            <a:endParaRPr lang="en-US" b="1" dirty="0">
              <a:solidFill>
                <a:srgbClr val="1E8AB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85750" marR="0" lvl="0" indent="-285750" algn="l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Website: </a:t>
            </a:r>
            <a:r>
              <a:rPr lang="en-US" dirty="0" err="1">
                <a:hlinkClick r:id="rId3"/>
              </a:rPr>
              <a:t>Nirikshan</a:t>
            </a:r>
            <a:r>
              <a:rPr lang="en-US" dirty="0"/>
              <a:t> </a:t>
            </a:r>
            <a:endParaRPr dirty="0"/>
          </a:p>
          <a:p>
            <a:pPr marL="285750" marR="0" lvl="0" indent="-285750" algn="l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2A33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scan → open live demo</a:t>
            </a:r>
            <a:endParaRPr dirty="0"/>
          </a:p>
        </p:txBody>
      </p:sp>
      <p:pic>
        <p:nvPicPr>
          <p:cNvPr id="18501" name="Google Shape;18501;p2" descr="site_qr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32720" y="402336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2" name="Google Shape;18502;p2" descr="sih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29565" y="5806440"/>
            <a:ext cx="502920" cy="7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3169</Words>
  <Application>WPS Presentation</Application>
  <PresentationFormat>Widescreen</PresentationFormat>
  <Paragraphs>168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Consolas</vt:lpstr>
      <vt:lpstr>Calibri</vt:lpstr>
      <vt:lpstr>Times New Roman</vt:lpstr>
      <vt:lpstr>Oswald</vt:lpstr>
      <vt:lpstr>Microsoft YaHei</vt:lpstr>
      <vt:lpstr>Arial Unicode MS</vt:lpstr>
      <vt:lpstr>Office Theme</vt:lpstr>
      <vt:lpstr>SMART INDIA HACKATHON 2026</vt:lpstr>
      <vt:lpstr>NIRAKSHAN — SEE. PREDICT. INTERCEPT. 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/>
  <cp:lastModifiedBy>pujit</cp:lastModifiedBy>
  <cp:revision>2</cp:revision>
  <dcterms:created xsi:type="dcterms:W3CDTF">2026-09-10T16:13:16Z</dcterms:created>
  <dcterms:modified xsi:type="dcterms:W3CDTF">2026-09-10T16:24:04Z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513F5AFBC0B44E57AC0658ED4260FC79_12</vt:lpwstr>
  </property>
  <property fmtid="{D5CDD505-2E9C-101B-9397-08002B2CF9AE}" pid="3" name="KSOProductBuildVer">
    <vt:lpwstr>1033-12.1.0.28485</vt:lpwstr>
  </property>
</Properties>
</file>